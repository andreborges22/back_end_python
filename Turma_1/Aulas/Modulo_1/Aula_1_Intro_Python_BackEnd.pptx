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1" r:id="rId12"/>
    <p:sldId id="273" r:id="rId13"/>
    <p:sldId id="276" r:id="rId14"/>
    <p:sldId id="279" r:id="rId15"/>
    <p:sldId id="258" r:id="rId16"/>
    <p:sldId id="259" r:id="rId17"/>
    <p:sldId id="260" r:id="rId18"/>
    <p:sldId id="26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es/fotos/WGeO6dW5GZM?utm_source=unsplash&amp;utm_medium=referral&amp;utm_content=creditShareLink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%C3%81baco" TargetMode="External"/><Relationship Id="rId2" Type="http://schemas.openxmlformats.org/officeDocument/2006/relationships/hyperlink" Target="https://ebaconline.com.br/blog/o-que-e-computacao-se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ulse/uma-breve-hist%C3%B3ria-da-programa%C3%A7%C3%A3o-dos-prim%C3%B3rdios-ao-christiano-fai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Introdução à Programação com Python – Back-End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Conceitos Iniciais e Preparação do Ambiente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Roteiro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Conceitos de </a:t>
            </a:r>
            <a:r>
              <a:rPr dirty="0" err="1"/>
              <a:t>Computação</a:t>
            </a:r>
            <a:r>
              <a:rPr dirty="0"/>
              <a:t> </a:t>
            </a:r>
            <a:r>
              <a:rPr lang="pt-BR" dirty="0"/>
              <a:t>e Programação</a:t>
            </a:r>
          </a:p>
          <a:p>
            <a:r>
              <a:rPr lang="pt-BR" dirty="0"/>
              <a:t>História da Computação </a:t>
            </a:r>
          </a:p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</a:p>
          <a:p>
            <a:r>
              <a:rPr lang="pt-BR" dirty="0"/>
              <a:t>Instalação do Python no Sistema </a:t>
            </a:r>
            <a:r>
              <a:rPr lang="pt-BR" dirty="0" smtClean="0"/>
              <a:t>Operacional</a:t>
            </a:r>
          </a:p>
          <a:p>
            <a:r>
              <a:rPr lang="pt-BR" dirty="0"/>
              <a:t>Comandos Básicos para Iniciar o Ambiente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Computação e Programação?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• </a:t>
            </a:r>
            <a:r>
              <a:rPr dirty="0" err="1" smtClean="0"/>
              <a:t>Computação</a:t>
            </a:r>
            <a:r>
              <a:rPr dirty="0" smtClean="0"/>
              <a:t> </a:t>
            </a:r>
            <a:r>
              <a:rPr dirty="0"/>
              <a:t>é o </a:t>
            </a:r>
            <a:r>
              <a:rPr dirty="0" err="1"/>
              <a:t>estudo</a:t>
            </a:r>
            <a:r>
              <a:rPr dirty="0"/>
              <a:t> e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que </a:t>
            </a:r>
            <a:r>
              <a:rPr dirty="0" err="1"/>
              <a:t>processam</a:t>
            </a:r>
            <a:r>
              <a:rPr dirty="0"/>
              <a:t> dados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 err="1" smtClean="0"/>
              <a:t>Programação</a:t>
            </a:r>
            <a:r>
              <a:rPr dirty="0" smtClean="0"/>
              <a:t> </a:t>
            </a:r>
            <a:r>
              <a:rPr dirty="0"/>
              <a:t>é o </a:t>
            </a:r>
            <a:r>
              <a:rPr dirty="0" err="1"/>
              <a:t>processo</a:t>
            </a:r>
            <a:r>
              <a:rPr dirty="0"/>
              <a:t> de </a:t>
            </a:r>
            <a:r>
              <a:rPr dirty="0" err="1"/>
              <a:t>escrever</a:t>
            </a:r>
            <a:r>
              <a:rPr dirty="0"/>
              <a:t> </a:t>
            </a:r>
            <a:r>
              <a:rPr dirty="0" err="1"/>
              <a:t>instruções</a:t>
            </a:r>
            <a:r>
              <a:rPr dirty="0"/>
              <a:t> (</a:t>
            </a:r>
            <a:r>
              <a:rPr dirty="0" err="1"/>
              <a:t>códigos</a:t>
            </a:r>
            <a:r>
              <a:rPr dirty="0"/>
              <a:t>) para que um </a:t>
            </a:r>
            <a:r>
              <a:rPr dirty="0" err="1"/>
              <a:t>computador</a:t>
            </a:r>
            <a:r>
              <a:rPr dirty="0"/>
              <a:t> execute </a:t>
            </a:r>
            <a:r>
              <a:rPr dirty="0" err="1"/>
              <a:t>tarefas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smtClean="0"/>
              <a:t>• É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computador</a:t>
            </a:r>
            <a:r>
              <a:rPr dirty="0"/>
              <a:t> de forma </a:t>
            </a:r>
            <a:r>
              <a:rPr dirty="0" err="1"/>
              <a:t>estruturada</a:t>
            </a:r>
            <a:r>
              <a:rPr dirty="0"/>
              <a:t>, </a:t>
            </a:r>
            <a:r>
              <a:rPr dirty="0" err="1"/>
              <a:t>lógica</a:t>
            </a:r>
            <a:r>
              <a:rPr dirty="0"/>
              <a:t> e </a:t>
            </a:r>
            <a:r>
              <a:rPr dirty="0" err="1"/>
              <a:t>precisa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240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História da computação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Voltemos a milhares de anos atrás, quando as civilizações greco-romanas começaram a usar ferramentas, chamadas</a:t>
            </a:r>
            <a:r>
              <a:rPr lang="pt-BR" b="1" dirty="0"/>
              <a:t> ábacos</a:t>
            </a:r>
            <a:r>
              <a:rPr lang="pt-BR" dirty="0"/>
              <a:t>, para fazer cálculos. </a:t>
            </a:r>
            <a:endParaRPr dirty="0"/>
          </a:p>
        </p:txBody>
      </p:sp>
      <p:sp>
        <p:nvSpPr>
          <p:cNvPr id="4" name="CaixaDeTexto 3"/>
          <p:cNvSpPr txBox="1"/>
          <p:nvPr/>
        </p:nvSpPr>
        <p:spPr>
          <a:xfrm>
            <a:off x="4271926" y="5652114"/>
            <a:ext cx="4705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smtClean="0"/>
              <a:t>Fig. 2: Ábaco Grego</a:t>
            </a:r>
            <a:r>
              <a:rPr lang="pt-BR" b="1" dirty="0" smtClean="0"/>
              <a:t> </a:t>
            </a:r>
            <a:r>
              <a:rPr lang="pt-BR" dirty="0" smtClean="0"/>
              <a:t>reconstruído</a:t>
            </a:r>
          </a:p>
          <a:p>
            <a:pPr algn="ctr"/>
            <a:r>
              <a:rPr lang="pt-BR" dirty="0"/>
              <a:t>Fonte: descompliqueamatematica.blogspot.com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499809" y="5662394"/>
            <a:ext cx="2709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smtClean="0"/>
              <a:t>Fig. 1: Ábaco infantil</a:t>
            </a:r>
          </a:p>
          <a:p>
            <a:pPr algn="ctr"/>
            <a:r>
              <a:rPr lang="pt-BR" dirty="0" smtClean="0"/>
              <a:t>Fonte: imagens da internet</a:t>
            </a:r>
            <a:endParaRPr lang="pt-BR" dirty="0"/>
          </a:p>
        </p:txBody>
      </p:sp>
      <p:pic>
        <p:nvPicPr>
          <p:cNvPr id="1034" name="Picture 10" descr="https://blogger.googleusercontent.com/img/b/R29vZ2xl/AVvXsEj3M5tycUQoy-13B9Dl803nAIivMLAeEn_CH_yztOK_wIJ83RwTQ-Yr-BW_TPA-bk_O6rWvOV6SUyxldO4Y70fny_YQzlCjm9S3oVEJVB2tX1_cQNy0DDsqXxgQNSaX5jUTiUnSo3aGfQY/s1600/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936" y="3665357"/>
            <a:ext cx="2185692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Ábaco Fechado em Madeira Com 40 argo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8" t="11263" r="10467" b="9066"/>
          <a:stretch/>
        </p:blipFill>
        <p:spPr bwMode="auto">
          <a:xfrm>
            <a:off x="1737487" y="3675637"/>
            <a:ext cx="2234552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14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sz="2400" dirty="0" smtClean="0"/>
              <a:t>Em </a:t>
            </a:r>
            <a:r>
              <a:rPr lang="pt-BR" sz="2400" dirty="0"/>
              <a:t>1642, </a:t>
            </a:r>
            <a:r>
              <a:rPr lang="pt-BR" sz="2400" dirty="0" err="1"/>
              <a:t>Blaise</a:t>
            </a:r>
            <a:r>
              <a:rPr lang="pt-BR" sz="2400" dirty="0"/>
              <a:t> Pascal </a:t>
            </a:r>
            <a:r>
              <a:rPr lang="pt-BR" sz="2400" dirty="0" smtClean="0"/>
              <a:t>construiu a Pascalina, excepcionalmente</a:t>
            </a:r>
            <a:r>
              <a:rPr lang="pt-BR" sz="2400" dirty="0"/>
              <a:t> </a:t>
            </a:r>
            <a:r>
              <a:rPr lang="pt-BR" sz="2400" b="1" dirty="0"/>
              <a:t>capaz de fazer somar e subtrair,</a:t>
            </a:r>
            <a:r>
              <a:rPr lang="pt-BR" sz="2400" dirty="0"/>
              <a:t> tornou-se a precursora das calculadoras mecânicas</a:t>
            </a:r>
            <a:r>
              <a:rPr lang="pt-BR" sz="2400" dirty="0" smtClean="0"/>
              <a:t>.</a:t>
            </a:r>
          </a:p>
          <a:p>
            <a:pPr algn="just"/>
            <a:r>
              <a:rPr lang="pt-BR" sz="2400" dirty="0"/>
              <a:t>Em 1672, o matemático </a:t>
            </a:r>
            <a:r>
              <a:rPr lang="pt-BR" sz="2400" dirty="0" err="1"/>
              <a:t>Gottfried</a:t>
            </a:r>
            <a:r>
              <a:rPr lang="pt-BR" sz="2400" dirty="0"/>
              <a:t> Wilhelm von </a:t>
            </a:r>
            <a:r>
              <a:rPr lang="pt-BR" sz="2400" dirty="0" err="1"/>
              <a:t>Leibnitz</a:t>
            </a:r>
            <a:r>
              <a:rPr lang="pt-BR" sz="2400" dirty="0"/>
              <a:t> desenvolveu o primeiro dispositivo para realizar operações matemáticas de </a:t>
            </a:r>
            <a:r>
              <a:rPr lang="pt-BR" sz="2400" b="1" dirty="0"/>
              <a:t>adição, subtração, divisão, multiplicação e cálculo da raiz quadrada</a:t>
            </a:r>
            <a:r>
              <a:rPr lang="pt-BR" sz="2400" dirty="0" smtClean="0"/>
              <a:t>.</a:t>
            </a:r>
          </a:p>
          <a:p>
            <a:pPr algn="just"/>
            <a:r>
              <a:rPr lang="pt-BR" sz="2400" dirty="0" smtClean="0"/>
              <a:t>Em 1822, O </a:t>
            </a:r>
            <a:r>
              <a:rPr lang="pt-BR" sz="2400" dirty="0"/>
              <a:t>primeiro computador, que era </a:t>
            </a:r>
            <a:r>
              <a:rPr lang="pt-BR" sz="2400" b="1" dirty="0"/>
              <a:t>uma máquina analítica</a:t>
            </a:r>
            <a:r>
              <a:rPr lang="pt-BR" sz="2400" dirty="0"/>
              <a:t>, foi criado por Charles </a:t>
            </a:r>
            <a:r>
              <a:rPr lang="pt-BR" sz="2400" dirty="0" smtClean="0"/>
              <a:t>Babbage. </a:t>
            </a:r>
            <a:r>
              <a:rPr lang="pt-BR" sz="2400" dirty="0"/>
              <a:t>A informação era inserida por meio de cartões perfurados. A máquina tinha uma memória, uma calculadora, um dispositivo de entrada e de saída. </a:t>
            </a:r>
            <a:endParaRPr lang="pt-BR" sz="2400" dirty="0" smtClean="0"/>
          </a:p>
          <a:p>
            <a:pPr algn="just"/>
            <a:r>
              <a:rPr lang="pt-BR" sz="2400" dirty="0" smtClean="0"/>
              <a:t>Em </a:t>
            </a:r>
            <a:r>
              <a:rPr lang="pt-BR" sz="2400" dirty="0"/>
              <a:t>1944, a IBM e Howard </a:t>
            </a:r>
            <a:r>
              <a:rPr lang="pt-BR" sz="2400" dirty="0" err="1"/>
              <a:t>Aiken</a:t>
            </a:r>
            <a:r>
              <a:rPr lang="pt-BR" sz="2400" dirty="0"/>
              <a:t> entregaram</a:t>
            </a:r>
            <a:r>
              <a:rPr lang="pt-BR" sz="2400" b="1" dirty="0"/>
              <a:t> o primeiro computador eletromecânico</a:t>
            </a:r>
            <a:r>
              <a:rPr lang="pt-BR" sz="2400" dirty="0"/>
              <a:t> Mark I à Marinha dos EUA para uso em pesquisa de campos magnéticos e projetos de radares. O curioso é que foi no Mark I que o primeiro </a:t>
            </a:r>
            <a:r>
              <a:rPr lang="pt-BR" sz="2400" i="1" dirty="0"/>
              <a:t>bug</a:t>
            </a:r>
            <a:r>
              <a:rPr lang="pt-BR" sz="2400" dirty="0"/>
              <a:t> (do inglês ‘inseto’) foi detectado. Era uma mariposa morta que causava um erro ao bloquear buracos na fita perfurada.</a:t>
            </a:r>
            <a:endParaRPr lang="pt-BR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História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234381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39982"/>
          </a:xfrm>
        </p:spPr>
        <p:txBody>
          <a:bodyPr>
            <a:normAutofit/>
          </a:bodyPr>
          <a:lstStyle/>
          <a:p>
            <a:r>
              <a:rPr lang="pt-BR" sz="2000" b="1" dirty="0"/>
              <a:t>O primeiro computador eletrônico</a:t>
            </a:r>
            <a:r>
              <a:rPr lang="pt-BR" sz="2000" dirty="0"/>
              <a:t>, conhecido como ENIAC, foi criado em 1946. Pesava 27 toneladas e consumia muita energia. No entanto, era totalmente digital e realizava até 5 mil operações por segundo.</a:t>
            </a:r>
            <a:endParaRPr lang="pt-BR" sz="2400" dirty="0"/>
          </a:p>
        </p:txBody>
      </p:sp>
      <p:pic>
        <p:nvPicPr>
          <p:cNvPr id="2050" name="Picture 2" descr="https://blog.ebaconline.com.br/blog/wp-content/uploads/2023/10/image4-1-1024x8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713" y="2715492"/>
            <a:ext cx="5926573" cy="356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667920" y="6245053"/>
            <a:ext cx="3808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Fig. </a:t>
            </a:r>
            <a:r>
              <a:rPr lang="pt-BR" dirty="0" smtClean="0"/>
              <a:t>3: Primeiro computador eletrônico</a:t>
            </a:r>
            <a:endParaRPr lang="pt-BR" i="1" dirty="0" smtClean="0"/>
          </a:p>
          <a:p>
            <a:r>
              <a:rPr lang="pt-BR" i="1" dirty="0" smtClean="0"/>
              <a:t>Fonte</a:t>
            </a:r>
            <a:r>
              <a:rPr lang="pt-BR" i="1" dirty="0"/>
              <a:t>: </a:t>
            </a:r>
            <a:r>
              <a:rPr lang="pt-BR" i="1" dirty="0" err="1">
                <a:hlinkClick r:id="rId3"/>
              </a:rPr>
              <a:t>Unsplash</a:t>
            </a:r>
            <a:endParaRPr lang="pt-BR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História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342489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400" b="1" dirty="0"/>
              <a:t>Primeira geração (1940s – 1955</a:t>
            </a:r>
            <a:r>
              <a:rPr lang="pt-BR" sz="2400" b="1" dirty="0"/>
              <a:t>):</a:t>
            </a:r>
            <a:r>
              <a:rPr lang="pt-BR" sz="2000" b="1" dirty="0" smtClean="0"/>
              <a:t> </a:t>
            </a:r>
            <a:r>
              <a:rPr lang="pt-BR" sz="2000" dirty="0" smtClean="0"/>
              <a:t>Criação do </a:t>
            </a:r>
            <a:r>
              <a:rPr lang="pt-BR" sz="2400" dirty="0" err="1" smtClean="0"/>
              <a:t>Colossus</a:t>
            </a:r>
            <a:r>
              <a:rPr lang="pt-BR" sz="2400" dirty="0" smtClean="0"/>
              <a:t>, o </a:t>
            </a:r>
            <a:r>
              <a:rPr lang="pt-BR" sz="2400" dirty="0"/>
              <a:t>aparelho ocupava uma sala e utilizava </a:t>
            </a:r>
            <a:r>
              <a:rPr lang="pt-BR" sz="2400" b="1" dirty="0"/>
              <a:t>válvulas a </a:t>
            </a:r>
            <a:r>
              <a:rPr lang="pt-BR" sz="2400" b="1" dirty="0" smtClean="0"/>
              <a:t>vácuo;</a:t>
            </a:r>
          </a:p>
          <a:p>
            <a:pPr algn="just"/>
            <a:r>
              <a:rPr lang="pt-BR" sz="2400" b="1" dirty="0"/>
              <a:t>Segunda geração (1955 – 1965):</a:t>
            </a:r>
            <a:r>
              <a:rPr lang="pt-BR" sz="2400" dirty="0"/>
              <a:t> A substituição das válvulas a vácuo por </a:t>
            </a:r>
            <a:r>
              <a:rPr lang="pt-BR" sz="2400" dirty="0" smtClean="0"/>
              <a:t>transistores</a:t>
            </a:r>
            <a:r>
              <a:rPr lang="pt-BR" sz="2400" dirty="0"/>
              <a:t> permitiu reduzir o tamanho dos computadores e seu consumo de </a:t>
            </a:r>
            <a:r>
              <a:rPr lang="pt-BR" sz="2400" dirty="0" smtClean="0"/>
              <a:t>energia;</a:t>
            </a:r>
          </a:p>
          <a:p>
            <a:pPr algn="just"/>
            <a:r>
              <a:rPr lang="pt-BR" sz="2400" b="1" dirty="0"/>
              <a:t>Terceira geração (1965 – 1970):</a:t>
            </a:r>
            <a:r>
              <a:rPr lang="pt-BR" sz="2400" dirty="0"/>
              <a:t> Começaram a utilizar </a:t>
            </a:r>
            <a:r>
              <a:rPr lang="pt-BR" sz="2400" b="1" dirty="0"/>
              <a:t>circuitos integrados</a:t>
            </a:r>
            <a:r>
              <a:rPr lang="pt-BR" sz="2400" dirty="0"/>
              <a:t>, onde colocavam milhares de </a:t>
            </a:r>
            <a:r>
              <a:rPr lang="pt-BR" sz="2400" dirty="0" smtClean="0"/>
              <a:t>transistores;</a:t>
            </a:r>
          </a:p>
          <a:p>
            <a:pPr algn="just"/>
            <a:r>
              <a:rPr lang="pt-BR" sz="2400" b="1" dirty="0"/>
              <a:t>Quarta geração (1870 – 1984):</a:t>
            </a:r>
            <a:r>
              <a:rPr lang="pt-BR" sz="2400" dirty="0"/>
              <a:t> Foi caracterizada pela invenção dos </a:t>
            </a:r>
            <a:r>
              <a:rPr lang="pt-BR" sz="2400" b="1" dirty="0"/>
              <a:t>microprocessadores</a:t>
            </a:r>
            <a:r>
              <a:rPr lang="pt-BR" sz="2400" dirty="0"/>
              <a:t>. A velocidade de resposta aumentou, baixando preços e tornando os computadores acessíveis ao público. Apareceram os famosos PCs (</a:t>
            </a:r>
            <a:r>
              <a:rPr lang="pt-BR" sz="2400" i="1" dirty="0" err="1"/>
              <a:t>Personal</a:t>
            </a:r>
            <a:r>
              <a:rPr lang="pt-BR" sz="2400" i="1" dirty="0"/>
              <a:t> Computer</a:t>
            </a:r>
            <a:r>
              <a:rPr lang="pt-BR" sz="2400" dirty="0" smtClean="0"/>
              <a:t>).</a:t>
            </a:r>
          </a:p>
          <a:p>
            <a:pPr algn="just"/>
            <a:r>
              <a:rPr lang="pt-BR" sz="2400" b="1" dirty="0"/>
              <a:t>Quinta geração (1984 – aos dias atuais):</a:t>
            </a:r>
            <a:r>
              <a:rPr lang="pt-BR" sz="2400" dirty="0"/>
              <a:t> Esta é a era em que estamos agora.</a:t>
            </a:r>
            <a:endParaRPr lang="pt-BR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História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257577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O tear de </a:t>
            </a:r>
            <a:r>
              <a:rPr lang="pt-BR" sz="2400" dirty="0" err="1" smtClean="0"/>
              <a:t>Jacquard</a:t>
            </a:r>
            <a:r>
              <a:rPr lang="pt-BR" sz="2400" dirty="0" smtClean="0"/>
              <a:t>: Na </a:t>
            </a:r>
            <a:r>
              <a:rPr lang="pt-BR" sz="2400" dirty="0"/>
              <a:t>história da programação é importante mencionar </a:t>
            </a:r>
            <a:r>
              <a:rPr lang="pt-BR" sz="2400" i="1" dirty="0"/>
              <a:t>Joseph-</a:t>
            </a:r>
            <a:r>
              <a:rPr lang="pt-BR" sz="2400" i="1" dirty="0" err="1"/>
              <a:t>Mariae</a:t>
            </a:r>
            <a:r>
              <a:rPr lang="pt-BR" sz="2400" i="1" dirty="0"/>
              <a:t> </a:t>
            </a:r>
            <a:r>
              <a:rPr lang="pt-BR" sz="2400" i="1" dirty="0" err="1"/>
              <a:t>Jacquard</a:t>
            </a:r>
            <a:r>
              <a:rPr lang="pt-BR" sz="2400" dirty="0"/>
              <a:t>, um francês que em 1801 efetivamente criou uma máquina que poderia substituir o homem, o </a:t>
            </a:r>
            <a:r>
              <a:rPr lang="pt-BR" sz="2400" b="1" dirty="0"/>
              <a:t>tear de </a:t>
            </a:r>
            <a:r>
              <a:rPr lang="pt-BR" sz="2400" b="1" dirty="0" err="1"/>
              <a:t>Jacquard</a:t>
            </a:r>
            <a:r>
              <a:rPr lang="pt-BR" sz="2400" dirty="0"/>
              <a:t>. Ele funcionava por meio de um programa que deveria lhe dizer quais fios do tear poderiam passar por cima ou por baixo para que o trançado pudesse ser criado. Esses programas eram cartões perfurados que continham instruções do modelo que deveria ser produzido. Muitos dizem que </a:t>
            </a:r>
            <a:r>
              <a:rPr lang="pt-BR" sz="2400" dirty="0" err="1"/>
              <a:t>Jacquard</a:t>
            </a:r>
            <a:r>
              <a:rPr lang="pt-BR" sz="2400" dirty="0"/>
              <a:t> é o pai da programação, embora Ada </a:t>
            </a:r>
            <a:r>
              <a:rPr lang="pt-BR" sz="2400" dirty="0" err="1"/>
              <a:t>Lovelace</a:t>
            </a:r>
            <a:r>
              <a:rPr lang="pt-BR" sz="2400" dirty="0"/>
              <a:t> tenha escrito o primeiro programa para a máquina de Babbage.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300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lang="pt-BR" dirty="0"/>
          </a:p>
        </p:txBody>
      </p:sp>
      <p:pic>
        <p:nvPicPr>
          <p:cNvPr id="4098" name="Picture 2" descr="https://upload.wikimedia.org/wikipedia/commons/thumb/b/b6/Jacquard_loom_p1040320.jpg/250px-Jacquard_loom_p10403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352" y="1417638"/>
            <a:ext cx="6359296" cy="470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1663575" y="6208322"/>
            <a:ext cx="5816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Fig. 4</a:t>
            </a:r>
            <a:r>
              <a:rPr lang="pt-BR" dirty="0" smtClean="0"/>
              <a:t>: Máquina de </a:t>
            </a:r>
            <a:r>
              <a:rPr lang="pt-BR" dirty="0" err="1" smtClean="0"/>
              <a:t>Jacquard</a:t>
            </a:r>
            <a:endParaRPr lang="pt-BR" dirty="0"/>
          </a:p>
          <a:p>
            <a:r>
              <a:rPr lang="pt-BR" i="1" dirty="0" smtClean="0"/>
              <a:t>Fonte</a:t>
            </a:r>
            <a:r>
              <a:rPr lang="pt-BR" i="1" dirty="0"/>
              <a:t>: </a:t>
            </a:r>
            <a:r>
              <a:rPr lang="pt-BR" i="1" dirty="0"/>
              <a:t>https://pt.wikipedia.org/wiki/Joseph-Marie_Jacquard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3312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lang="pt-BR" dirty="0"/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A Máquina de </a:t>
            </a:r>
            <a:r>
              <a:rPr lang="pt-BR" sz="2400" dirty="0"/>
              <a:t>Babbage: Ada </a:t>
            </a:r>
            <a:r>
              <a:rPr lang="pt-BR" sz="2400" dirty="0" err="1"/>
              <a:t>Lovelace</a:t>
            </a:r>
            <a:r>
              <a:rPr lang="pt-BR" sz="2400" dirty="0"/>
              <a:t> </a:t>
            </a:r>
            <a:r>
              <a:rPr lang="pt-BR" sz="2400" dirty="0" smtClean="0"/>
              <a:t>traduziu </a:t>
            </a:r>
            <a:r>
              <a:rPr lang="pt-BR" sz="2400" dirty="0"/>
              <a:t>e expandiu uma descrição da máquina analítica de Charles Babbage, considerado o primeiro computador da história e escreveu um programa que poderia funcionar nela. </a:t>
            </a:r>
            <a:r>
              <a:rPr lang="pt-BR" sz="2400" dirty="0"/>
              <a:t>Através da interpretação dos artigos do italiano Luigi </a:t>
            </a:r>
            <a:r>
              <a:rPr lang="pt-BR" sz="2400" dirty="0" err="1"/>
              <a:t>Menabrea</a:t>
            </a:r>
            <a:r>
              <a:rPr lang="pt-BR" sz="2400" dirty="0"/>
              <a:t>, ela expôs entre os anos de 1842 a 1843, um artigo contando sobre um método para realizar cálculos com a sequência de Bernoulli. Foi considerado um dos primeiros algoritmos criados que podia ser interpretado pela máquina. Apesar dessa descoberta, ela não foi construída nesse período.</a:t>
            </a:r>
          </a:p>
        </p:txBody>
      </p:sp>
    </p:spTree>
    <p:extLst>
      <p:ext uri="{BB962C8B-B14F-4D97-AF65-F5344CB8AC3E}">
        <p14:creationId xmlns:p14="http://schemas.microsoft.com/office/powerpoint/2010/main" val="383467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1940-1950: </a:t>
            </a:r>
            <a:r>
              <a:rPr dirty="0" err="1" smtClean="0"/>
              <a:t>Nascimento</a:t>
            </a:r>
            <a:r>
              <a:rPr dirty="0" smtClean="0"/>
              <a:t> </a:t>
            </a:r>
            <a:r>
              <a:rPr dirty="0"/>
              <a:t>da </a:t>
            </a:r>
            <a:r>
              <a:rPr dirty="0" err="1"/>
              <a:t>programação</a:t>
            </a:r>
            <a:r>
              <a:rPr dirty="0"/>
              <a:t>. Alan Turing </a:t>
            </a:r>
            <a:r>
              <a:rPr dirty="0" err="1"/>
              <a:t>propõe</a:t>
            </a:r>
            <a:r>
              <a:rPr dirty="0"/>
              <a:t> a </a:t>
            </a:r>
            <a:r>
              <a:rPr dirty="0" err="1"/>
              <a:t>máquina</a:t>
            </a:r>
            <a:r>
              <a:rPr dirty="0"/>
              <a:t> de Turing. </a:t>
            </a:r>
            <a:r>
              <a:rPr dirty="0" err="1"/>
              <a:t>Primeiras</a:t>
            </a:r>
            <a:r>
              <a:rPr dirty="0"/>
              <a:t> </a:t>
            </a:r>
            <a:r>
              <a:rPr dirty="0" err="1"/>
              <a:t>linguagens</a:t>
            </a:r>
            <a:r>
              <a:rPr dirty="0"/>
              <a:t> de </a:t>
            </a:r>
            <a:r>
              <a:rPr dirty="0" err="1"/>
              <a:t>baixo</a:t>
            </a:r>
            <a:r>
              <a:rPr dirty="0"/>
              <a:t> </a:t>
            </a:r>
            <a:r>
              <a:rPr dirty="0" err="1"/>
              <a:t>nível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Assembly </a:t>
            </a:r>
            <a:r>
              <a:rPr dirty="0" err="1"/>
              <a:t>surgem</a:t>
            </a:r>
            <a:r>
              <a:rPr dirty="0" smtClean="0"/>
              <a:t>.</a:t>
            </a:r>
            <a:endParaRPr lang="pt-BR" dirty="0" smtClean="0"/>
          </a:p>
          <a:p>
            <a:r>
              <a:rPr lang="pt-BR" dirty="0" smtClean="0"/>
              <a:t>1950-1960: Fortran </a:t>
            </a:r>
            <a:r>
              <a:rPr lang="pt-BR" dirty="0"/>
              <a:t>e </a:t>
            </a:r>
            <a:r>
              <a:rPr lang="pt-BR" dirty="0" err="1"/>
              <a:t>Lisp</a:t>
            </a:r>
            <a:r>
              <a:rPr lang="pt-BR" dirty="0"/>
              <a:t> são criadas, introduzindo linguagens de alto nível. Começo da programação estruturada.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6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1960-1970: </a:t>
            </a:r>
            <a:r>
              <a:rPr dirty="0" err="1" smtClean="0"/>
              <a:t>Surgem</a:t>
            </a:r>
            <a:r>
              <a:rPr dirty="0" smtClean="0"/>
              <a:t> </a:t>
            </a:r>
            <a:r>
              <a:rPr dirty="0"/>
              <a:t>COBOL, BASIC e ALGOL. A </a:t>
            </a:r>
            <a:r>
              <a:rPr dirty="0" err="1"/>
              <a:t>programação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começa</a:t>
            </a:r>
            <a:r>
              <a:rPr dirty="0"/>
              <a:t> com </a:t>
            </a:r>
            <a:r>
              <a:rPr dirty="0" err="1"/>
              <a:t>Simula</a:t>
            </a:r>
            <a:r>
              <a:rPr dirty="0" smtClean="0"/>
              <a:t>.</a:t>
            </a:r>
            <a:endParaRPr lang="pt-BR" dirty="0" smtClean="0"/>
          </a:p>
          <a:p>
            <a:r>
              <a:rPr lang="pt-BR" dirty="0" smtClean="0"/>
              <a:t>1970-1980: C </a:t>
            </a:r>
            <a:r>
              <a:rPr lang="pt-BR" dirty="0"/>
              <a:t>e Pascal ganham destaque. UNIX é desenvolvido. Paradigmas de programação começam a se diversificar</a:t>
            </a:r>
            <a:r>
              <a:rPr lang="pt-BR" dirty="0" smtClean="0"/>
              <a:t>.</a:t>
            </a:r>
          </a:p>
          <a:p>
            <a:r>
              <a:rPr lang="pt-BR" dirty="0" smtClean="0"/>
              <a:t>1980-1990: C</a:t>
            </a:r>
            <a:r>
              <a:rPr lang="pt-BR" dirty="0"/>
              <a:t>++ populariza a orientação a objetos. </a:t>
            </a:r>
            <a:r>
              <a:rPr lang="pt-BR" dirty="0" err="1"/>
              <a:t>Smalltalk</a:t>
            </a:r>
            <a:r>
              <a:rPr lang="pt-BR" dirty="0"/>
              <a:t> influencia </a:t>
            </a:r>
            <a:r>
              <a:rPr lang="pt-BR" dirty="0" err="1"/>
              <a:t>GUIs</a:t>
            </a:r>
            <a:r>
              <a:rPr lang="pt-BR" dirty="0"/>
              <a:t>. Linguagens como Perl surgem</a:t>
            </a:r>
            <a:r>
              <a:rPr lang="pt-BR" dirty="0" smtClean="0"/>
              <a:t>.</a:t>
            </a:r>
            <a:endParaRPr lang="pt-BR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108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História da </a:t>
            </a:r>
            <a:r>
              <a:rPr lang="pt-BR" dirty="0" smtClean="0"/>
              <a:t>Programação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1990-2000: </a:t>
            </a:r>
            <a:r>
              <a:rPr dirty="0" smtClean="0"/>
              <a:t>Java </a:t>
            </a:r>
            <a:r>
              <a:rPr dirty="0"/>
              <a:t>e Python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lançadas</a:t>
            </a:r>
            <a:r>
              <a:rPr dirty="0"/>
              <a:t>. A web </a:t>
            </a:r>
            <a:r>
              <a:rPr dirty="0" err="1"/>
              <a:t>impulsiona</a:t>
            </a:r>
            <a:r>
              <a:rPr dirty="0"/>
              <a:t> o </a:t>
            </a:r>
            <a:r>
              <a:rPr dirty="0" err="1"/>
              <a:t>uso</a:t>
            </a:r>
            <a:r>
              <a:rPr dirty="0"/>
              <a:t> de JavaScript, PHP e HTML</a:t>
            </a:r>
            <a:r>
              <a:rPr dirty="0" smtClean="0"/>
              <a:t>.</a:t>
            </a:r>
            <a:endParaRPr lang="pt-BR" dirty="0" smtClean="0"/>
          </a:p>
          <a:p>
            <a:r>
              <a:rPr lang="pt-BR" dirty="0"/>
              <a:t>2000-2010: Expansão do software livre. Frameworks web crescem. .NET e C# aparecem</a:t>
            </a:r>
            <a:r>
              <a:rPr lang="pt-BR" dirty="0" smtClean="0"/>
              <a:t>.</a:t>
            </a:r>
          </a:p>
          <a:p>
            <a:r>
              <a:rPr lang="pt-BR" dirty="0"/>
              <a:t>2010-2020: Popularização de linguagens como Swift, </a:t>
            </a:r>
            <a:r>
              <a:rPr lang="pt-BR" dirty="0" err="1"/>
              <a:t>Kotlin</a:t>
            </a:r>
            <a:r>
              <a:rPr lang="pt-BR" dirty="0"/>
              <a:t> e </a:t>
            </a:r>
            <a:r>
              <a:rPr lang="pt-BR" dirty="0" err="1"/>
              <a:t>Rust</a:t>
            </a:r>
            <a:r>
              <a:rPr lang="pt-BR" dirty="0"/>
              <a:t>.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e big data impulsionam Python e R</a:t>
            </a:r>
            <a:r>
              <a:rPr lang="pt-BR" dirty="0" smtClean="0"/>
              <a:t>.</a:t>
            </a:r>
            <a:endParaRPr lang="pt-BR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2792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História da Programação</a:t>
            </a:r>
            <a:br>
              <a:rPr lang="pt-BR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2020-presente: </a:t>
            </a:r>
            <a:r>
              <a:rPr dirty="0" err="1" smtClean="0"/>
              <a:t>Avanços</a:t>
            </a:r>
            <a:r>
              <a:rPr dirty="0" smtClean="0"/>
              <a:t> </a:t>
            </a:r>
            <a:r>
              <a:rPr dirty="0" err="1"/>
              <a:t>em</a:t>
            </a:r>
            <a:r>
              <a:rPr dirty="0"/>
              <a:t> IA e </a:t>
            </a:r>
            <a:r>
              <a:rPr dirty="0" err="1"/>
              <a:t>computação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nuvem</a:t>
            </a:r>
            <a:r>
              <a:rPr dirty="0"/>
              <a:t>.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linguagens</a:t>
            </a:r>
            <a:r>
              <a:rPr dirty="0"/>
              <a:t> </a:t>
            </a:r>
            <a:r>
              <a:rPr dirty="0" err="1"/>
              <a:t>seguras</a:t>
            </a:r>
            <a:r>
              <a:rPr dirty="0"/>
              <a:t>, </a:t>
            </a:r>
            <a:r>
              <a:rPr dirty="0" err="1"/>
              <a:t>acessíveis</a:t>
            </a:r>
            <a:r>
              <a:rPr dirty="0"/>
              <a:t> e </a:t>
            </a:r>
            <a:r>
              <a:rPr dirty="0" err="1"/>
              <a:t>sustentáveis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8429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Por que aprender Python para Back-End?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Sintaxe</a:t>
            </a:r>
            <a:r>
              <a:rPr dirty="0"/>
              <a:t> simples e </a:t>
            </a:r>
            <a:r>
              <a:rPr dirty="0" err="1"/>
              <a:t>legível</a:t>
            </a:r>
            <a:r>
              <a:rPr dirty="0"/>
              <a:t>: ideal para </a:t>
            </a:r>
            <a:r>
              <a:rPr dirty="0" err="1"/>
              <a:t>iniciantes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Grande </a:t>
            </a:r>
            <a:r>
              <a:rPr dirty="0" err="1"/>
              <a:t>comunidade</a:t>
            </a:r>
            <a:r>
              <a:rPr dirty="0"/>
              <a:t> e </a:t>
            </a:r>
            <a:r>
              <a:rPr dirty="0" err="1"/>
              <a:t>suporte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Versátil</a:t>
            </a:r>
            <a:r>
              <a:rPr dirty="0"/>
              <a:t>: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Web, </a:t>
            </a:r>
            <a:r>
              <a:rPr dirty="0" err="1"/>
              <a:t>Ciência</a:t>
            </a:r>
            <a:r>
              <a:rPr dirty="0"/>
              <a:t> de Dados, </a:t>
            </a:r>
            <a:r>
              <a:rPr dirty="0" err="1"/>
              <a:t>Automação</a:t>
            </a:r>
            <a:r>
              <a:rPr dirty="0"/>
              <a:t> e </a:t>
            </a:r>
            <a:r>
              <a:rPr dirty="0" err="1"/>
              <a:t>mais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Frameworks </a:t>
            </a:r>
            <a:r>
              <a:rPr dirty="0" err="1"/>
              <a:t>poderosos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Django e Flask para </a:t>
            </a:r>
            <a:r>
              <a:rPr dirty="0" err="1"/>
              <a:t>desenvolvimento</a:t>
            </a:r>
            <a:r>
              <a:rPr dirty="0"/>
              <a:t> web back-end.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Instalação</a:t>
            </a:r>
            <a:r>
              <a:rPr dirty="0"/>
              <a:t> do Python no Sistema </a:t>
            </a:r>
            <a:r>
              <a:rPr dirty="0" err="1"/>
              <a:t>Operacional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Acesse</a:t>
            </a:r>
            <a:r>
              <a:rPr dirty="0"/>
              <a:t> o site: https://www.python.org</a:t>
            </a:r>
          </a:p>
          <a:p>
            <a:r>
              <a:rPr dirty="0"/>
              <a:t>2. </a:t>
            </a:r>
            <a:r>
              <a:rPr dirty="0" err="1"/>
              <a:t>Baixe</a:t>
            </a:r>
            <a:r>
              <a:rPr dirty="0"/>
              <a:t> a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recomendada</a:t>
            </a:r>
            <a:r>
              <a:rPr dirty="0"/>
              <a:t> para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(Windows, </a:t>
            </a:r>
            <a:r>
              <a:rPr dirty="0" err="1"/>
              <a:t>macOS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Linux).</a:t>
            </a:r>
          </a:p>
          <a:p>
            <a:r>
              <a:rPr dirty="0"/>
              <a:t>3. Execute o </a:t>
            </a:r>
            <a:r>
              <a:rPr dirty="0" err="1"/>
              <a:t>instalador</a:t>
            </a:r>
            <a:r>
              <a:rPr dirty="0"/>
              <a:t> e marque a </a:t>
            </a:r>
            <a:r>
              <a:rPr dirty="0" err="1"/>
              <a:t>opção</a:t>
            </a:r>
            <a:r>
              <a:rPr dirty="0"/>
              <a:t> 'Add Python to PATH'.</a:t>
            </a:r>
          </a:p>
          <a:p>
            <a:r>
              <a:rPr dirty="0"/>
              <a:t>4. </a:t>
            </a:r>
            <a:r>
              <a:rPr dirty="0" err="1"/>
              <a:t>Conclua</a:t>
            </a:r>
            <a:r>
              <a:rPr dirty="0"/>
              <a:t> a </a:t>
            </a:r>
            <a:r>
              <a:rPr dirty="0" err="1"/>
              <a:t>instalação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Básicos</a:t>
            </a:r>
            <a:r>
              <a:rPr dirty="0"/>
              <a:t> para </a:t>
            </a:r>
            <a:r>
              <a:rPr dirty="0" err="1"/>
              <a:t>Iniciar</a:t>
            </a:r>
            <a:r>
              <a:rPr dirty="0"/>
              <a:t> o </a:t>
            </a:r>
            <a:r>
              <a:rPr dirty="0" err="1"/>
              <a:t>Ambiente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Verificar</a:t>
            </a:r>
            <a:r>
              <a:rPr dirty="0"/>
              <a:t> se Python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instalado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→ No terminal: python --version (</a:t>
            </a:r>
            <a:r>
              <a:rPr dirty="0" err="1"/>
              <a:t>ou</a:t>
            </a:r>
            <a:r>
              <a:rPr dirty="0"/>
              <a:t> python3 --version</a:t>
            </a:r>
            <a:r>
              <a:rPr dirty="0" smtClean="0"/>
              <a:t>)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Acessar</a:t>
            </a:r>
            <a:r>
              <a:rPr dirty="0"/>
              <a:t> o </a:t>
            </a:r>
            <a:r>
              <a:rPr dirty="0" err="1"/>
              <a:t>modo</a:t>
            </a:r>
            <a:r>
              <a:rPr dirty="0"/>
              <a:t> </a:t>
            </a:r>
            <a:r>
              <a:rPr dirty="0" err="1"/>
              <a:t>interativo</a:t>
            </a:r>
            <a:r>
              <a:rPr dirty="0"/>
              <a:t> (REPL):</a:t>
            </a:r>
          </a:p>
          <a:p>
            <a:pPr marL="0" indent="0">
              <a:buNone/>
            </a:pPr>
            <a:r>
              <a:rPr dirty="0"/>
              <a:t>   → </a:t>
            </a:r>
            <a:r>
              <a:rPr dirty="0" err="1"/>
              <a:t>Digite</a:t>
            </a:r>
            <a:r>
              <a:rPr dirty="0"/>
              <a:t>: python (</a:t>
            </a:r>
            <a:r>
              <a:rPr dirty="0" err="1"/>
              <a:t>ou</a:t>
            </a:r>
            <a:r>
              <a:rPr dirty="0"/>
              <a:t> python3</a:t>
            </a:r>
            <a:r>
              <a:rPr dirty="0" smtClean="0"/>
              <a:t>)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Executar</a:t>
            </a:r>
            <a:r>
              <a:rPr dirty="0"/>
              <a:t> um script Python:</a:t>
            </a:r>
          </a:p>
          <a:p>
            <a:pPr marL="0" indent="0">
              <a:buNone/>
            </a:pPr>
            <a:r>
              <a:rPr dirty="0"/>
              <a:t>   → python nome_do_arquivo.py</a:t>
            </a:r>
          </a:p>
        </p:txBody>
      </p:sp>
      <p:sp>
        <p:nvSpPr>
          <p:cNvPr id="4" name="Retângulo 3"/>
          <p:cNvSpPr/>
          <p:nvPr/>
        </p:nvSpPr>
        <p:spPr>
          <a:xfrm>
            <a:off x="457200" y="6304002"/>
            <a:ext cx="838466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/>
              <a:t>👉 Próxima aula: </a:t>
            </a:r>
            <a:r>
              <a:rPr lang="pt-BR" sz="3000" dirty="0" smtClean="0"/>
              <a:t>Fundamentos da linguagem Python</a:t>
            </a:r>
            <a:endParaRPr lang="pt-BR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ebaconline.com.br/blog/o-que-e-computacao-seo</a:t>
            </a:r>
            <a:r>
              <a:rPr lang="pt-BR" dirty="0" smtClean="0"/>
              <a:t> acesso em Junho/2025.</a:t>
            </a:r>
          </a:p>
          <a:p>
            <a:r>
              <a:rPr lang="pt-BR" dirty="0">
                <a:hlinkClick r:id="rId3"/>
              </a:rPr>
              <a:t>https://pt.wikipedia.org/wiki/%</a:t>
            </a:r>
            <a:r>
              <a:rPr lang="pt-BR" dirty="0" smtClean="0">
                <a:hlinkClick r:id="rId3"/>
              </a:rPr>
              <a:t>C3%81baco</a:t>
            </a:r>
            <a:r>
              <a:rPr lang="pt-BR" dirty="0" smtClean="0"/>
              <a:t> </a:t>
            </a:r>
            <a:r>
              <a:rPr lang="pt-BR" dirty="0"/>
              <a:t>acesso em Junho/2025</a:t>
            </a:r>
            <a:r>
              <a:rPr lang="pt-BR" dirty="0" smtClean="0"/>
              <a:t>.</a:t>
            </a:r>
          </a:p>
          <a:p>
            <a:r>
              <a:rPr lang="pt-BR" dirty="0">
                <a:hlinkClick r:id="rId4"/>
              </a:rPr>
              <a:t>https://</a:t>
            </a:r>
            <a:r>
              <a:rPr lang="pt-BR" dirty="0" smtClean="0">
                <a:hlinkClick r:id="rId4"/>
              </a:rPr>
              <a:t>www.linkedin.com/pulse/uma-breve-hist%C3%B3ria-da-programa%C3%A7%C3%A3o-dos-prim%C3%B3rdios-ao-christiano-faig/</a:t>
            </a:r>
            <a:r>
              <a:rPr lang="pt-BR" dirty="0" smtClean="0"/>
              <a:t> acesso </a:t>
            </a:r>
            <a:r>
              <a:rPr lang="pt-BR" dirty="0"/>
              <a:t>em Junho/2025.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57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4799</TotalTime>
  <Words>637</Words>
  <Application>Microsoft Office PowerPoint</Application>
  <PresentationFormat>Apresentação na tela (4:3)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Introdução à Programação com Python – Back-End</vt:lpstr>
      <vt:lpstr>Roteiro</vt:lpstr>
      <vt:lpstr>O que é Computação e Programação?</vt:lpstr>
      <vt:lpstr>História da computação</vt:lpstr>
      <vt:lpstr>História da computação</vt:lpstr>
      <vt:lpstr>História da computação</vt:lpstr>
      <vt:lpstr>História da computação</vt:lpstr>
      <vt:lpstr>História da Programação</vt:lpstr>
      <vt:lpstr>História da Programação</vt:lpstr>
      <vt:lpstr>História da Programação</vt:lpstr>
      <vt:lpstr>História da Programação</vt:lpstr>
      <vt:lpstr>História da Programação</vt:lpstr>
      <vt:lpstr>História da Programação</vt:lpstr>
      <vt:lpstr>História da Programação </vt:lpstr>
      <vt:lpstr>Por que aprender Python para Back-End?</vt:lpstr>
      <vt:lpstr>Instalação do Python no Sistema Operacional</vt:lpstr>
      <vt:lpstr>Comandos Básicos para Iniciar o Ambiente</vt:lpstr>
      <vt:lpstr>Referências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Programação com Python – Back-End</dc:title>
  <dc:subject/>
  <dc:creator/>
  <cp:keywords/>
  <dc:description>generated using python-pptx</dc:description>
  <cp:lastModifiedBy>André Borges</cp:lastModifiedBy>
  <cp:revision>16</cp:revision>
  <dcterms:created xsi:type="dcterms:W3CDTF">2013-01-27T09:14:16Z</dcterms:created>
  <dcterms:modified xsi:type="dcterms:W3CDTF">2025-06-27T23:18:20Z</dcterms:modified>
  <cp:category/>
</cp:coreProperties>
</file>